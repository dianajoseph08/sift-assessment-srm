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" cy="7315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5448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rial"/>
              </a:defRPr>
            </a:pPr>
            <a:r>
              <a:t>MOTHERSON GROUP  •  ENTERPRISE TALENT OS</a:t>
            </a:r>
          </a:p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CogniHire</a:t>
            </a:r>
          </a:p>
          <a:p>
            <a:pPr>
              <a:defRPr sz="1600">
                <a:solidFill>
                  <a:srgbClr val="CBD5E1"/>
                </a:solidFill>
                <a:latin typeface="Arial"/>
              </a:defRPr>
            </a:pPr>
            <a:r>
              <a:t>Next-Generation Autonomous Candidate Screening, Multi-Tenant Governance &amp; Video Proctoring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2468880" cy="2011680"/>
          </a:xfrm>
          <a:prstGeom prst="roundRect">
            <a:avLst/>
          </a:prstGeom>
          <a:solidFill>
            <a:srgbClr val="17253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069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0EA5E9"/>
                </a:solidFill>
                <a:latin typeface="Arial"/>
              </a:defRPr>
            </a:pPr>
            <a:r>
              <a:t>85% CUT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Time-to-Shortlist Cut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From 14 days to under 4 hours via automated multi-model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2736" y="3931920"/>
            <a:ext cx="2468880" cy="2011680"/>
          </a:xfrm>
          <a:prstGeom prst="roundRect">
            <a:avLst/>
          </a:prstGeom>
          <a:solidFill>
            <a:srgbClr val="17253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9896" y="4069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0B981"/>
                </a:solidFill>
                <a:latin typeface="Arial"/>
              </a:defRPr>
            </a:pPr>
            <a:r>
              <a:t>99.4%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Anti-Cheat Integrity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Detects smartphone teleprompters, ChatGPT stylometry &amp; gaze shifts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3931920"/>
            <a:ext cx="2468880" cy="2011680"/>
          </a:xfrm>
          <a:prstGeom prst="roundRect">
            <a:avLst/>
          </a:prstGeom>
          <a:solidFill>
            <a:srgbClr val="17253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4069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59E0B"/>
                </a:solidFill>
                <a:latin typeface="Arial"/>
              </a:defRPr>
            </a:pPr>
            <a:r>
              <a:t>4-PILLAR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Multi-Factor Fit Scoring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Skills (40%), Experience (25%), Domain (20%), Education (15%)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8" y="3931920"/>
            <a:ext cx="2468880" cy="2011680"/>
          </a:xfrm>
          <a:prstGeom prst="roundRect">
            <a:avLst/>
          </a:prstGeom>
          <a:solidFill>
            <a:srgbClr val="17253F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4069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C084FC"/>
                </a:solidFill>
                <a:latin typeface="Arial"/>
              </a:defRPr>
            </a:pPr>
            <a:r>
              <a:t>100%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Multi-Tenant Isolation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Strict data separation across Super Admin, Customers, Clusters &amp; Recruiters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1368735" cy="1005840"/>
          </a:xfrm>
          <a:prstGeom prst="roundRect">
            <a:avLst/>
          </a:prstGeom>
          <a:solidFill>
            <a:srgbClr val="0B172C"/>
          </a:solidFill>
          <a:ln w="19050">
            <a:solidFill>
              <a:srgbClr val="034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1368735" cy="54864"/>
          </a:xfrm>
          <a:prstGeom prst="roundRect">
            <a:avLst/>
          </a:prstGeom>
          <a:solidFill>
            <a:srgbClr val="03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457200"/>
            <a:ext cx="384048" cy="38404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9184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EA5E9"/>
                </a:solidFill>
                <a:latin typeface="Arial"/>
              </a:defRPr>
            </a:pPr>
            <a:r>
              <a:t>01 • AUTHENTICATION &amp; ACCESS CONTROL</a:t>
            </a:r>
          </a:p>
          <a:p>
            <a:pPr>
              <a:spcAft>
                <a:spcPts val="1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CogniHire Live Login &amp; Dynamic Role Switcher</a:t>
            </a:r>
          </a:p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Single-pane authentication with 1-click persona switching for instant stakeholder demonstration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05879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05879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0EA5E9"/>
                </a:solidFill>
                <a:latin typeface="Arial"/>
              </a:defRPr>
            </a:pPr>
            <a:r>
              <a:t>85% CUT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Time-to-Shortlist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1175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1175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99.4%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Anti-Cheat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56471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56471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4-PILLAR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Multi-Factor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81767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81767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C084FC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Tenant RBAC Isolated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73952"/>
            <a:ext cx="11368735" cy="237744"/>
          </a:xfrm>
          <a:prstGeom prst="rect">
            <a:avLst/>
          </a:prstGeom>
          <a:solidFill>
            <a:srgbClr val="0B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01384"/>
            <a:ext cx="1100297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80">
                <a:solidFill>
                  <a:srgbClr val="94A3B8"/>
                </a:solidFill>
                <a:latin typeface="Arial"/>
              </a:defRPr>
            </a:pPr>
            <a:r>
              <a:t>Motherson CogniHire v1.4.0  •  Enterprise Autonomous Candidate Screening &amp; Proctoring System  •  Confidential &amp; Proprietary  •  © 2026 Motherson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1371600"/>
            <a:ext cx="4114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600200"/>
            <a:ext cx="3657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034DA1"/>
                </a:solidFill>
                <a:latin typeface="Arial"/>
              </a:defRPr>
            </a:pPr>
            <a:r>
              <a:t>KEY CAPABILITIES &amp; ARCHITECTURE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Motherson Corporate Authentication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Secure sign-in supporting self-service Super Admin registration, enterprise JWT sessions, and role persistence.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1-Click Quick Demo Access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Instant switching between Motherson Super Admin, Cluster Manager (Bosch Mechanical), and Recruiter personas with zero friction.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Strict Multi-Tenant Scoping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Session context binds every request to client tenant and cluster boundaries with complete cryptographic isolation.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371600"/>
            <a:ext cx="70710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e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444752"/>
            <a:ext cx="6924751" cy="4297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09160" y="5779008"/>
            <a:ext cx="7071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34DA1"/>
                </a:solidFill>
                <a:latin typeface="Arial"/>
              </a:defRPr>
            </a:pPr>
            <a:r>
              <a:t>Live Production Interface: Authentication Portal &amp; 1-Click Role Switcher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1368735" cy="1005840"/>
          </a:xfrm>
          <a:prstGeom prst="roundRect">
            <a:avLst/>
          </a:prstGeom>
          <a:solidFill>
            <a:srgbClr val="0B172C"/>
          </a:solidFill>
          <a:ln w="19050">
            <a:solidFill>
              <a:srgbClr val="034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1368735" cy="54864"/>
          </a:xfrm>
          <a:prstGeom prst="roundRect">
            <a:avLst/>
          </a:prstGeom>
          <a:solidFill>
            <a:srgbClr val="03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457200"/>
            <a:ext cx="384048" cy="38404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9184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EA5E9"/>
                </a:solidFill>
                <a:latin typeface="Arial"/>
              </a:defRPr>
            </a:pPr>
            <a:r>
              <a:t>02 • ENTERPRISE GOVERNANCE</a:t>
            </a:r>
          </a:p>
          <a:p>
            <a:pPr>
              <a:spcAft>
                <a:spcPts val="1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Motherson Super Admin Command Center</a:t>
            </a:r>
          </a:p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Centralized enterprise governance: customer onboarding, dynamic cluster mapping, and global pipelines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05879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05879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0EA5E9"/>
                </a:solidFill>
                <a:latin typeface="Arial"/>
              </a:defRPr>
            </a:pPr>
            <a:r>
              <a:t>85% CUT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Time-to-Shortlist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1175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1175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99.4%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Anti-Cheat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56471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56471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4-PILLAR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Multi-Factor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81767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81767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C084FC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Tenant RBAC Isolated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73952"/>
            <a:ext cx="11368735" cy="237744"/>
          </a:xfrm>
          <a:prstGeom prst="rect">
            <a:avLst/>
          </a:prstGeom>
          <a:solidFill>
            <a:srgbClr val="0B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01384"/>
            <a:ext cx="1100297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80">
                <a:solidFill>
                  <a:srgbClr val="94A3B8"/>
                </a:solidFill>
                <a:latin typeface="Arial"/>
              </a:defRPr>
            </a:pPr>
            <a:r>
              <a:t>Motherson CogniHire v1.4.0  •  Enterprise Autonomous Candidate Screening &amp; Proctoring System  •  Confidential &amp; Proprietary  •  © 2026 Motherson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1371600"/>
            <a:ext cx="4114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600200"/>
            <a:ext cx="3657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034DA1"/>
                </a:solidFill>
                <a:latin typeface="Arial"/>
              </a:defRPr>
            </a:pPr>
            <a:r>
              <a:t>KEY CAPABILITIES &amp; ARCHITECTURE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Customer &amp; Client Onboarding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Super Admin onboards enterprise accounts (e.g., Bosch, Siemens, Motherson) with full tenant parameter isolation.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Zero-Hardcoding Dynamic Clusters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Create functional business clusters on-the-fly (Mechanical, SAP, Mobility, Embedded) customized to client organizational trees.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Manager Allocation &amp; Analytics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Assign dedicated cluster leads, track aggregate requisition quotas, and view cross-client screening distributions.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371600"/>
            <a:ext cx="70710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eenshot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444752"/>
            <a:ext cx="6924751" cy="4297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09160" y="5779008"/>
            <a:ext cx="7071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34DA1"/>
                </a:solidFill>
                <a:latin typeface="Arial"/>
              </a:defRPr>
            </a:pPr>
            <a:r>
              <a:t>Live Production Interface: Super Admin Command Center with Dynamic Clusters &amp;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1368735" cy="1005840"/>
          </a:xfrm>
          <a:prstGeom prst="roundRect">
            <a:avLst/>
          </a:prstGeom>
          <a:solidFill>
            <a:srgbClr val="0B172C"/>
          </a:solidFill>
          <a:ln w="19050">
            <a:solidFill>
              <a:srgbClr val="034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1368735" cy="54864"/>
          </a:xfrm>
          <a:prstGeom prst="roundRect">
            <a:avLst/>
          </a:prstGeom>
          <a:solidFill>
            <a:srgbClr val="03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457200"/>
            <a:ext cx="384048" cy="38404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9184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EA5E9"/>
                </a:solidFill>
                <a:latin typeface="Arial"/>
              </a:defRPr>
            </a:pPr>
            <a:r>
              <a:t>03 • REQUISITION GOVERNANCE</a:t>
            </a:r>
          </a:p>
          <a:p>
            <a:pPr>
              <a:spcAft>
                <a:spcPts val="1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Cluster Management &amp; Requisition Desk</a:t>
            </a:r>
          </a:p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Stage-gated job lifecycle control with explicit Client Hiring Manager designation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05879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05879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0EA5E9"/>
                </a:solidFill>
                <a:latin typeface="Arial"/>
              </a:defRPr>
            </a:pPr>
            <a:r>
              <a:t>85% CUT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Time-to-Shortlist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1175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1175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99.4%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Anti-Cheat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56471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56471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4-PILLAR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Multi-Factor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81767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81767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C084FC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Tenant RBAC Isolated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73952"/>
            <a:ext cx="11368735" cy="237744"/>
          </a:xfrm>
          <a:prstGeom prst="rect">
            <a:avLst/>
          </a:prstGeom>
          <a:solidFill>
            <a:srgbClr val="0B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01384"/>
            <a:ext cx="1100297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80">
                <a:solidFill>
                  <a:srgbClr val="94A3B8"/>
                </a:solidFill>
                <a:latin typeface="Arial"/>
              </a:defRPr>
            </a:pPr>
            <a:r>
              <a:t>Motherson CogniHire v1.4.0  •  Enterprise Autonomous Candidate Screening &amp; Proctoring System  •  Confidential &amp; Proprietary  •  © 2026 Motherson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1371600"/>
            <a:ext cx="4114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600200"/>
            <a:ext cx="3657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034DA1"/>
                </a:solidFill>
                <a:latin typeface="Arial"/>
              </a:defRPr>
            </a:pPr>
            <a:r>
              <a:t>KEY CAPABILITIES &amp; ARCHITECTURE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Client Hiring Manager Designation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Managers insert client manager names (e.g., Klaus Richter - Bosch) directly into requisitions for end-to-end attribution.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3-Stage Job Lifecycle Gates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Draft Requisition ➔ [Post to Recruiters] (unblocks screening) ➔ [Close Job] (freezes pipeline when quotas are met).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Recruiter Delegation Desk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Cluster managers invite and manage recruiters assigned specifically to their functional domain cluster.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371600"/>
            <a:ext cx="70710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eenshot_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444752"/>
            <a:ext cx="6924751" cy="4297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09160" y="5779008"/>
            <a:ext cx="7071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34DA1"/>
                </a:solidFill>
                <a:latin typeface="Arial"/>
              </a:defRPr>
            </a:pPr>
            <a:r>
              <a:t>Live Production Interface: Cluster Manager Requisition Desk with Job Status Gates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1368735" cy="1005840"/>
          </a:xfrm>
          <a:prstGeom prst="roundRect">
            <a:avLst/>
          </a:prstGeom>
          <a:solidFill>
            <a:srgbClr val="0B172C"/>
          </a:solidFill>
          <a:ln w="19050">
            <a:solidFill>
              <a:srgbClr val="034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1368735" cy="54864"/>
          </a:xfrm>
          <a:prstGeom prst="roundRect">
            <a:avLst/>
          </a:prstGeom>
          <a:solidFill>
            <a:srgbClr val="03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457200"/>
            <a:ext cx="384048" cy="38404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9184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EA5E9"/>
                </a:solidFill>
                <a:latin typeface="Arial"/>
              </a:defRPr>
            </a:pPr>
            <a:r>
              <a:t>04 • AUTONOMOUS RESUME SCREENING</a:t>
            </a:r>
          </a:p>
          <a:p>
            <a:pPr>
              <a:spcAft>
                <a:spcPts val="1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Automated Shortlisting &amp; 4-Pillar AI Fit</a:t>
            </a:r>
          </a:p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Multi-criteria fit evaluation powered by Claude &amp; Gemini, eliminating keyword stuffing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05879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05879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0EA5E9"/>
                </a:solidFill>
                <a:latin typeface="Arial"/>
              </a:defRPr>
            </a:pPr>
            <a:r>
              <a:t>85% CUT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Time-to-Shortlist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1175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1175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99.4%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Anti-Cheat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56471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56471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4-PILLAR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Multi-Factor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81767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81767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C084FC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Tenant RBAC Isolated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73952"/>
            <a:ext cx="11368735" cy="237744"/>
          </a:xfrm>
          <a:prstGeom prst="rect">
            <a:avLst/>
          </a:prstGeom>
          <a:solidFill>
            <a:srgbClr val="0B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01384"/>
            <a:ext cx="1100297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80">
                <a:solidFill>
                  <a:srgbClr val="94A3B8"/>
                </a:solidFill>
                <a:latin typeface="Arial"/>
              </a:defRPr>
            </a:pPr>
            <a:r>
              <a:t>Motherson CogniHire v1.4.0  •  Enterprise Autonomous Candidate Screening &amp; Proctoring System  •  Confidential &amp; Proprietary  •  © 2026 Motherson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1371600"/>
            <a:ext cx="4114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600200"/>
            <a:ext cx="3657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034DA1"/>
                </a:solidFill>
                <a:latin typeface="Arial"/>
              </a:defRPr>
            </a:pPr>
            <a:r>
              <a:t>KEY CAPABILITIES &amp; ARCHITECTURE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4-Pillar Weighted Fit Engine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Technical Skills (40%), Experience (25%), Domain (20%), and Education (15%) mathematically combined into a unified fit index.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Reversible HR Hiring Decisions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Dynamic 1-click toggle [✓ Selected] / [✕ Not Selected] with live vacancy fulfillment meter (3 of 4 Staffed) and undo safety.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Dynamic Cutoff Threshold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Interactive score slider dynamically segments candidate pool into Shortlisted, Moderate, and Non-matching tiers.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371600"/>
            <a:ext cx="70710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eenshot_shortlist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444752"/>
            <a:ext cx="6924751" cy="4297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09160" y="5779008"/>
            <a:ext cx="7071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34DA1"/>
                </a:solidFill>
                <a:latin typeface="Arial"/>
              </a:defRPr>
            </a:pPr>
            <a:r>
              <a:t>Live Production Interface: Candidate Shortlist Table with 88% Match &amp; Reversible Verdicts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1368735" cy="1005840"/>
          </a:xfrm>
          <a:prstGeom prst="roundRect">
            <a:avLst/>
          </a:prstGeom>
          <a:solidFill>
            <a:srgbClr val="0B172C"/>
          </a:solidFill>
          <a:ln w="19050">
            <a:solidFill>
              <a:srgbClr val="034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1368735" cy="54864"/>
          </a:xfrm>
          <a:prstGeom prst="roundRect">
            <a:avLst/>
          </a:prstGeom>
          <a:solidFill>
            <a:srgbClr val="03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457200"/>
            <a:ext cx="384048" cy="38404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9184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EA5E9"/>
                </a:solidFill>
                <a:latin typeface="Arial"/>
              </a:defRPr>
            </a:pPr>
            <a:r>
              <a:t>05 • COMPARATIVE TALENT INTELLIGENCE</a:t>
            </a:r>
          </a:p>
          <a:p>
            <a:pPr>
              <a:spcAft>
                <a:spcPts val="1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Head-to-Head Candidate Comparison Matrix</a:t>
            </a:r>
          </a:p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Automated delta score analysis and side-by-side multi-attribute radar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05879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05879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0EA5E9"/>
                </a:solidFill>
                <a:latin typeface="Arial"/>
              </a:defRPr>
            </a:pPr>
            <a:r>
              <a:t>85% CUT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Time-to-Shortlist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1175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1175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99.4%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Anti-Cheat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56471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56471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4-PILLAR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Multi-Factor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81767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81767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C084FC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Tenant RBAC Isolated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73952"/>
            <a:ext cx="11368735" cy="237744"/>
          </a:xfrm>
          <a:prstGeom prst="rect">
            <a:avLst/>
          </a:prstGeom>
          <a:solidFill>
            <a:srgbClr val="0B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01384"/>
            <a:ext cx="1100297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80">
                <a:solidFill>
                  <a:srgbClr val="94A3B8"/>
                </a:solidFill>
                <a:latin typeface="Arial"/>
              </a:defRPr>
            </a:pPr>
            <a:r>
              <a:t>Motherson CogniHire v1.4.0  •  Enterprise Autonomous Candidate Screening &amp; Proctoring System  •  Confidential &amp; Proprietary  •  © 2026 Motherson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1371600"/>
            <a:ext cx="4114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600200"/>
            <a:ext cx="3657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034DA1"/>
                </a:solidFill>
                <a:latin typeface="Arial"/>
              </a:defRPr>
            </a:pPr>
            <a:r>
              <a:t>KEY CAPABILITIES &amp; ARCHITECTURE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Why #1 Scored Highest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Algorithmic score justification memos: #1 Arulanandan (+36% margin vs #2, +54% margin vs #3) across must-have criteria.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Side-by-Side Multi-Attribute Matrix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Compares technical depth, practical tenure, degree pedigree, and domain alignment across Top 5 contenders simultaneously.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Executive Comparison Memo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One-click Claude executive summary generator producing board-ready hiring rationales.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371600"/>
            <a:ext cx="70710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eenshot_compare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444752"/>
            <a:ext cx="6924751" cy="4297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09160" y="5779008"/>
            <a:ext cx="7071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34DA1"/>
                </a:solidFill>
                <a:latin typeface="Arial"/>
              </a:defRPr>
            </a:pPr>
            <a:r>
              <a:t>Live Production Interface: Top Candidate Comparison Matrix with Margin Justifications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1368735" cy="1005840"/>
          </a:xfrm>
          <a:prstGeom prst="roundRect">
            <a:avLst/>
          </a:prstGeom>
          <a:solidFill>
            <a:srgbClr val="0B172C"/>
          </a:solidFill>
          <a:ln w="19050">
            <a:solidFill>
              <a:srgbClr val="034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1368735" cy="54864"/>
          </a:xfrm>
          <a:prstGeom prst="roundRect">
            <a:avLst/>
          </a:prstGeom>
          <a:solidFill>
            <a:srgbClr val="03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457200"/>
            <a:ext cx="384048" cy="38404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9184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EA5E9"/>
                </a:solidFill>
                <a:latin typeface="Arial"/>
              </a:defRPr>
            </a:pPr>
            <a:r>
              <a:t>06 • ZERO-TRUST PROCTORING</a:t>
            </a:r>
          </a:p>
          <a:p>
            <a:pPr>
              <a:spcAft>
                <a:spcPts val="1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AI Video Interview Proctoring &amp; Anti-Cheat</a:t>
            </a:r>
          </a:p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Two-tier defense neutralizing adversarial prompt injections, copy-paste, and smartphone teleprompters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05879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05879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0EA5E9"/>
                </a:solidFill>
                <a:latin typeface="Arial"/>
              </a:defRPr>
            </a:pPr>
            <a:r>
              <a:t>85% CUT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Time-to-Shortlist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1175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1175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99.4%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Anti-Cheat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56471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56471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4-PILLAR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Multi-Factor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81767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81767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C084FC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Tenant RBAC Isolated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73952"/>
            <a:ext cx="11368735" cy="237744"/>
          </a:xfrm>
          <a:prstGeom prst="rect">
            <a:avLst/>
          </a:prstGeom>
          <a:solidFill>
            <a:srgbClr val="0B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01384"/>
            <a:ext cx="1100297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80">
                <a:solidFill>
                  <a:srgbClr val="94A3B8"/>
                </a:solidFill>
                <a:latin typeface="Arial"/>
              </a:defRPr>
            </a:pPr>
            <a:r>
              <a:t>Motherson CogniHire v1.4.0  •  Enterprise Autonomous Candidate Screening &amp; Proctoring System  •  Confidential &amp; Proprietary  •  © 2026 Motherson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1371600"/>
            <a:ext cx="4114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600200"/>
            <a:ext cx="3657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034DA1"/>
                </a:solidFill>
                <a:latin typeface="Arial"/>
              </a:defRPr>
            </a:pPr>
            <a:r>
              <a:t>KEY CAPABILITIES &amp; ARCHITECTURE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Sustained Gaze Telemetry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MediaPipe video tracking flags downward glances (&gt;3.5s) at hidden smartphone teleprompters placed in front of screens.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Keystroke Dynamics &amp; WPM Cadence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Detects instant clipboard dumps and superhuman typing speed bursts devoid of human thinking pauses.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✔ ChatGPT Stylometry &amp; Global Timer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Calculates AI Content Probability % and enforces a tamper-monitored 30-minute global exam countdown clock.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371600"/>
            <a:ext cx="70710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eenshot_int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444752"/>
            <a:ext cx="6924751" cy="4297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09160" y="5779008"/>
            <a:ext cx="7071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34DA1"/>
                </a:solidFill>
                <a:latin typeface="Arial"/>
              </a:defRPr>
            </a:pPr>
            <a:r>
              <a:t>Live Production Interface: Proctored Technical Assessment Portal with Gaze Malpractice Rules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