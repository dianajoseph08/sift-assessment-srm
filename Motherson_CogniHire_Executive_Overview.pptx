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19456"/>
            <a:ext cx="11368735" cy="1005840"/>
          </a:xfrm>
          <a:prstGeom prst="roundRect">
            <a:avLst/>
          </a:prstGeom>
          <a:solidFill>
            <a:srgbClr val="0B172C"/>
          </a:solidFill>
          <a:ln w="19050">
            <a:solidFill>
              <a:srgbClr val="034D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219456"/>
            <a:ext cx="11368735" cy="54864"/>
          </a:xfrm>
          <a:prstGeom prst="roundRect">
            <a:avLst/>
          </a:prstGeom>
          <a:solidFill>
            <a:srgbClr val="034D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457200"/>
            <a:ext cx="384048" cy="384048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29184"/>
            <a:ext cx="57607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850" b="1">
                <a:solidFill>
                  <a:srgbClr val="0EA5E9"/>
                </a:solidFill>
                <a:latin typeface="Arial"/>
              </a:defRPr>
            </a:pPr>
            <a:r>
              <a:t>MOTHERSON GROUP  •  ENTERPRISE TALENT OS  •  V1.4.0 PRODUCTION LIVE</a:t>
            </a:r>
          </a:p>
          <a:p>
            <a:pPr>
              <a:spcAft>
                <a:spcPts val="10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Motherson CogniHire</a:t>
            </a:r>
          </a:p>
          <a:p>
            <a:pPr>
              <a:defRPr sz="950">
                <a:solidFill>
                  <a:srgbClr val="CBD5E1"/>
                </a:solidFill>
                <a:latin typeface="Arial"/>
              </a:defRPr>
            </a:pPr>
            <a:r>
              <a:t>Autonomous AI Candidate Screening, Multi-Tenant Governance &amp; Anti-Cheat Proctoring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05879" y="384048"/>
            <a:ext cx="1115568" cy="676656"/>
          </a:xfrm>
          <a:prstGeom prst="roundRect">
            <a:avLst/>
          </a:prstGeom>
          <a:solidFill>
            <a:srgbClr val="17253F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05879" y="384048"/>
            <a:ext cx="1115568" cy="67665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spcAft>
                <a:spcPts val="100"/>
              </a:spcAft>
              <a:defRPr sz="1300" b="1">
                <a:solidFill>
                  <a:srgbClr val="0EA5E9"/>
                </a:solidFill>
                <a:latin typeface="Arial"/>
              </a:defRPr>
            </a:pPr>
            <a:r>
              <a:t>85% CUT</a:t>
            </a:r>
          </a:p>
          <a:p>
            <a:pPr algn="ctr">
              <a:defRPr sz="750" b="1">
                <a:solidFill>
                  <a:srgbClr val="F1F5F9"/>
                </a:solidFill>
                <a:latin typeface="Arial"/>
              </a:defRPr>
            </a:pPr>
            <a:r>
              <a:t>Time-to-Shortlist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31175" y="384048"/>
            <a:ext cx="1115568" cy="676656"/>
          </a:xfrm>
          <a:prstGeom prst="roundRect">
            <a:avLst/>
          </a:prstGeom>
          <a:solidFill>
            <a:srgbClr val="17253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31175" y="384048"/>
            <a:ext cx="1115568" cy="67665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spcAft>
                <a:spcPts val="100"/>
              </a:spcAft>
              <a:defRPr sz="1300" b="1">
                <a:solidFill>
                  <a:srgbClr val="10B981"/>
                </a:solidFill>
                <a:latin typeface="Arial"/>
              </a:defRPr>
            </a:pPr>
            <a:r>
              <a:t>99.4%</a:t>
            </a:r>
          </a:p>
          <a:p>
            <a:pPr algn="ctr">
              <a:defRPr sz="750" b="1">
                <a:solidFill>
                  <a:srgbClr val="F1F5F9"/>
                </a:solidFill>
                <a:latin typeface="Arial"/>
              </a:defRPr>
            </a:pPr>
            <a:r>
              <a:t>Anti-Cheat Accuracy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56471" y="384048"/>
            <a:ext cx="1115568" cy="676656"/>
          </a:xfrm>
          <a:prstGeom prst="roundRect">
            <a:avLst/>
          </a:prstGeom>
          <a:solidFill>
            <a:srgbClr val="17253F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56471" y="384048"/>
            <a:ext cx="1115568" cy="67665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spcAft>
                <a:spcPts val="100"/>
              </a:spcAft>
              <a:defRPr sz="1300" b="1">
                <a:solidFill>
                  <a:srgbClr val="F59E0B"/>
                </a:solidFill>
                <a:latin typeface="Arial"/>
              </a:defRPr>
            </a:pPr>
            <a:r>
              <a:t>4-PILLAR</a:t>
            </a:r>
          </a:p>
          <a:p>
            <a:pPr algn="ctr">
              <a:defRPr sz="750" b="1">
                <a:solidFill>
                  <a:srgbClr val="F1F5F9"/>
                </a:solidFill>
                <a:latin typeface="Arial"/>
              </a:defRPr>
            </a:pPr>
            <a:r>
              <a:t>Multi-Factor Scoring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481767" y="384048"/>
            <a:ext cx="1115568" cy="676656"/>
          </a:xfrm>
          <a:prstGeom prst="roundRect">
            <a:avLst/>
          </a:prstGeom>
          <a:solidFill>
            <a:srgbClr val="17253F"/>
          </a:solidFill>
          <a:ln w="1524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81767" y="384048"/>
            <a:ext cx="1115568" cy="676656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spcAft>
                <a:spcPts val="100"/>
              </a:spcAft>
              <a:defRPr sz="1300" b="1">
                <a:solidFill>
                  <a:srgbClr val="C084FC"/>
                </a:solidFill>
                <a:latin typeface="Arial"/>
              </a:defRPr>
            </a:pPr>
            <a:r>
              <a:t>100%</a:t>
            </a:r>
          </a:p>
          <a:p>
            <a:pPr algn="ctr">
              <a:defRPr sz="750" b="1">
                <a:solidFill>
                  <a:srgbClr val="F1F5F9"/>
                </a:solidFill>
                <a:latin typeface="Arial"/>
              </a:defRPr>
            </a:pPr>
            <a:r>
              <a:t>Tenant RBAC Isolated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1316736"/>
            <a:ext cx="3639312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11480" y="1316736"/>
            <a:ext cx="3639312" cy="54864"/>
          </a:xfrm>
          <a:prstGeom prst="roundRect">
            <a:avLst/>
          </a:prstGeom>
          <a:solidFill>
            <a:srgbClr val="034D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" y="1408176"/>
            <a:ext cx="3310128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780" b="1">
                <a:solidFill>
                  <a:srgbClr val="034DA1"/>
                </a:solidFill>
                <a:latin typeface="Arial"/>
              </a:defRPr>
            </a:pPr>
            <a:r>
              <a:t>01 • HIERARCHY &amp; GOVERNANCE</a:t>
            </a:r>
          </a:p>
          <a:p>
            <a:pPr>
              <a:defRPr sz="1250" b="1">
                <a:solidFill>
                  <a:srgbClr val="0F172A"/>
                </a:solidFill>
                <a:latin typeface="Arial"/>
              </a:defRPr>
            </a:pPr>
            <a:r>
              <a:t>Enterprise RBAC Hierarchy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" y="1938528"/>
            <a:ext cx="3310128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819" b="1">
                <a:solidFill>
                  <a:srgbClr val="034DA1"/>
                </a:solidFill>
                <a:latin typeface="Arial"/>
              </a:defRPr>
            </a:pPr>
            <a:r>
              <a:t>👑 Motherson Super Admin: </a:t>
            </a:r>
            <a:r>
              <a:rPr b="0">
                <a:solidFill>
                  <a:srgbClr val="0F172A"/>
                </a:solidFill>
              </a:rPr>
              <a:t>Global platform owner; configures enterprise clients &amp; clusters.</a:t>
            </a:r>
          </a:p>
          <a:p>
            <a:pPr>
              <a:spcAft>
                <a:spcPts val="300"/>
              </a:spcAft>
              <a:defRPr sz="819" b="1">
                <a:solidFill>
                  <a:srgbClr val="034DA1"/>
                </a:solidFill>
                <a:latin typeface="Arial"/>
              </a:defRPr>
            </a:pPr>
            <a:r>
              <a:t>🏢 Enterprise Customers: </a:t>
            </a:r>
            <a:r>
              <a:rPr b="0">
                <a:solidFill>
                  <a:srgbClr val="0F172A"/>
                </a:solidFill>
              </a:rPr>
              <a:t>Isolated tenants (Bosch, Siemens) with dynamic scoping.</a:t>
            </a:r>
          </a:p>
          <a:p>
            <a:pPr>
              <a:spcAft>
                <a:spcPts val="300"/>
              </a:spcAft>
              <a:defRPr sz="819" b="1">
                <a:solidFill>
                  <a:srgbClr val="034DA1"/>
                </a:solidFill>
                <a:latin typeface="Arial"/>
              </a:defRPr>
            </a:pPr>
            <a:r>
              <a:t>⚡ Dynamic Clusters: </a:t>
            </a:r>
            <a:r>
              <a:rPr b="0">
                <a:solidFill>
                  <a:srgbClr val="0F172A"/>
                </a:solidFill>
              </a:rPr>
              <a:t>Zero hardcoded clusters; created on-the-fly (Mechanical, SAP).</a:t>
            </a:r>
          </a:p>
          <a:p>
            <a:pPr>
              <a:spcAft>
                <a:spcPts val="300"/>
              </a:spcAft>
              <a:defRPr sz="819" b="1">
                <a:solidFill>
                  <a:srgbClr val="034DA1"/>
                </a:solidFill>
                <a:latin typeface="Arial"/>
              </a:defRPr>
            </a:pPr>
            <a:r>
              <a:t>👔 Managers &amp; 🎯 Recruiters: </a:t>
            </a:r>
            <a:r>
              <a:rPr b="0">
                <a:solidFill>
                  <a:srgbClr val="0F172A"/>
                </a:solidFill>
              </a:rPr>
              <a:t>Cluster managers post jobs; recruiters screen candidates.</a:t>
            </a:r>
          </a:p>
        </p:txBody>
      </p:sp>
      <p:pic>
        <p:nvPicPr>
          <p:cNvPr id="19" name="Picture 18" descr="opt_admin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3383279"/>
            <a:ext cx="3310128" cy="111556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76072" y="4517135"/>
            <a:ext cx="3310128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680" i="1">
                <a:solidFill>
                  <a:srgbClr val="64748B"/>
                </a:solidFill>
                <a:latin typeface="Arial"/>
              </a:defRPr>
            </a:pPr>
            <a:r>
              <a:t>Live UI: Super Admin Command Center &amp; Dynamic Customer Clusters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70248" y="1316736"/>
            <a:ext cx="3639312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270248" y="1316736"/>
            <a:ext cx="3639312" cy="54864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1408176"/>
            <a:ext cx="3310128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780" b="1">
                <a:solidFill>
                  <a:srgbClr val="7C3AED"/>
                </a:solidFill>
                <a:latin typeface="Arial"/>
              </a:defRPr>
            </a:pPr>
            <a:r>
              <a:t>02 • MULTI-FACTOR INTELLIGENCE</a:t>
            </a:r>
          </a:p>
          <a:p>
            <a:pPr>
              <a:defRPr sz="1250" b="1">
                <a:solidFill>
                  <a:srgbClr val="0F172A"/>
                </a:solidFill>
                <a:latin typeface="Arial"/>
              </a:defRPr>
            </a:pPr>
            <a:r>
              <a:t>4-Pillar AI Fit Scoring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34840" y="1938528"/>
            <a:ext cx="3310128" cy="320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434840" y="1938528"/>
            <a:ext cx="54864" cy="3200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44568" y="1956816"/>
            <a:ext cx="3145536" cy="2834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19" b="1">
                <a:solidFill>
                  <a:srgbClr val="7C3AED"/>
                </a:solidFill>
                <a:latin typeface="Arial"/>
              </a:defRPr>
            </a:pPr>
            <a:r>
              <a:t>Technical Skills (40%) — </a:t>
            </a:r>
            <a:r>
              <a:rPr b="0">
                <a:solidFill>
                  <a:srgbClr val="0F172A"/>
                </a:solidFill>
              </a:rPr>
              <a:t>Hard requirements match &amp; tool proficiency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34840" y="2276856"/>
            <a:ext cx="3310128" cy="320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434840" y="2276856"/>
            <a:ext cx="54864" cy="32004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44568" y="2295144"/>
            <a:ext cx="3145536" cy="2834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19" b="1">
                <a:solidFill>
                  <a:srgbClr val="0EA5E9"/>
                </a:solidFill>
                <a:latin typeface="Arial"/>
              </a:defRPr>
            </a:pPr>
            <a:r>
              <a:t>Experience Fit (25%) — </a:t>
            </a:r>
            <a:r>
              <a:rPr b="0">
                <a:solidFill>
                  <a:srgbClr val="0F172A"/>
                </a:solidFill>
              </a:rPr>
              <a:t>Tenure progression, seniority &amp; impact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34840" y="2615184"/>
            <a:ext cx="3310128" cy="320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434840" y="2615184"/>
            <a:ext cx="54864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44568" y="2633472"/>
            <a:ext cx="3145536" cy="2834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19" b="1">
                <a:solidFill>
                  <a:srgbClr val="10B981"/>
                </a:solidFill>
                <a:latin typeface="Arial"/>
              </a:defRPr>
            </a:pPr>
            <a:r>
              <a:t>Domain Relevance (20%) — </a:t>
            </a:r>
            <a:r>
              <a:rPr b="0">
                <a:solidFill>
                  <a:srgbClr val="0F172A"/>
                </a:solidFill>
              </a:rPr>
              <a:t>Automotive &amp; industrial engineering depth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34840" y="2953512"/>
            <a:ext cx="3310128" cy="320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434840" y="2953512"/>
            <a:ext cx="54864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44568" y="2971800"/>
            <a:ext cx="3145536" cy="2834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19" b="1">
                <a:solidFill>
                  <a:srgbClr val="F59E0B"/>
                </a:solidFill>
                <a:latin typeface="Arial"/>
              </a:defRPr>
            </a:pPr>
            <a:r>
              <a:t>Education &amp; Creds (15%) — </a:t>
            </a:r>
            <a:r>
              <a:rPr b="0">
                <a:solidFill>
                  <a:srgbClr val="0F172A"/>
                </a:solidFill>
              </a:rPr>
              <a:t>Degree pedigree, verified credentials</a:t>
            </a:r>
          </a:p>
        </p:txBody>
      </p:sp>
      <p:pic>
        <p:nvPicPr>
          <p:cNvPr id="36" name="Picture 35" descr="opt_candidate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3383279"/>
            <a:ext cx="3310128" cy="658368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4434840" y="4096511"/>
            <a:ext cx="3310128" cy="420624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07992" y="4123943"/>
            <a:ext cx="3163824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60" b="1">
                <a:solidFill>
                  <a:srgbClr val="7C3AED"/>
                </a:solidFill>
                <a:latin typeface="Arial"/>
              </a:defRPr>
            </a:pPr>
            <a:r>
              <a:t>⚖️ Comparative Delta: </a:t>
            </a:r>
            <a:r>
              <a:rPr b="0">
                <a:solidFill>
                  <a:srgbClr val="0F172A"/>
                </a:solidFill>
              </a:rPr>
              <a:t>#1 Arulanandan (88%) vs #2 Varaprasad (52% [+36% margin]). Claude memos eliminate keyword bias.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29016" y="1316736"/>
            <a:ext cx="3639312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129016" y="1316736"/>
            <a:ext cx="3639312" cy="54864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93608" y="1408176"/>
            <a:ext cx="3310128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780" b="1">
                <a:solidFill>
                  <a:srgbClr val="F43F5E"/>
                </a:solidFill>
                <a:latin typeface="Arial"/>
              </a:defRPr>
            </a:pPr>
            <a:r>
              <a:t>03 • ZERO-TRUST SECURITY</a:t>
            </a:r>
          </a:p>
          <a:p>
            <a:pPr>
              <a:defRPr sz="1250" b="1">
                <a:solidFill>
                  <a:srgbClr val="0F172A"/>
                </a:solidFill>
                <a:latin typeface="Arial"/>
              </a:defRPr>
            </a:pPr>
            <a:r>
              <a:t>AI Anti-Cheat &amp; Proctoring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93608" y="1938528"/>
            <a:ext cx="3310128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819" b="1">
                <a:solidFill>
                  <a:srgbClr val="F43F5E"/>
                </a:solidFill>
                <a:latin typeface="Arial"/>
              </a:defRPr>
            </a:pPr>
            <a:r>
              <a:t>🛡️ Prompt-Injection Defense: </a:t>
            </a:r>
            <a:r>
              <a:rPr b="0">
                <a:solidFill>
                  <a:srgbClr val="0F172A"/>
                </a:solidFill>
              </a:rPr>
              <a:t>Strips hidden text; penalizes verbatim JD echo.</a:t>
            </a:r>
          </a:p>
          <a:p>
            <a:pPr>
              <a:spcAft>
                <a:spcPts val="300"/>
              </a:spcAft>
              <a:defRPr sz="819" b="1">
                <a:solidFill>
                  <a:srgbClr val="F43F5E"/>
                </a:solidFill>
                <a:latin typeface="Arial"/>
              </a:defRPr>
            </a:pPr>
            <a:r>
              <a:t>👁️ Gaze &amp; Teleprompter: </a:t>
            </a:r>
            <a:r>
              <a:rPr b="0">
                <a:solidFill>
                  <a:srgbClr val="0F172A"/>
                </a:solidFill>
              </a:rPr>
              <a:t>Flags downward glances (&gt;3.5s) at smartphones.</a:t>
            </a:r>
          </a:p>
          <a:p>
            <a:pPr>
              <a:spcAft>
                <a:spcPts val="300"/>
              </a:spcAft>
              <a:defRPr sz="819" b="1">
                <a:solidFill>
                  <a:srgbClr val="F43F5E"/>
                </a:solidFill>
                <a:latin typeface="Arial"/>
              </a:defRPr>
            </a:pPr>
            <a:r>
              <a:t>⌨️ Keystroke Cadence Dynamics: </a:t>
            </a:r>
            <a:r>
              <a:rPr b="0">
                <a:solidFill>
                  <a:srgbClr val="0F172A"/>
                </a:solidFill>
              </a:rPr>
              <a:t>Detects clipboard dumps &amp; high WPM typing bursts.</a:t>
            </a:r>
          </a:p>
          <a:p>
            <a:pPr>
              <a:spcAft>
                <a:spcPts val="300"/>
              </a:spcAft>
              <a:defRPr sz="819" b="1">
                <a:solidFill>
                  <a:srgbClr val="F43F5E"/>
                </a:solidFill>
                <a:latin typeface="Arial"/>
              </a:defRPr>
            </a:pPr>
            <a:r>
              <a:t>🤖 ChatGPT Stylometry Audit: </a:t>
            </a:r>
            <a:r>
              <a:rPr b="0">
                <a:solidFill>
                  <a:srgbClr val="0F172A"/>
                </a:solidFill>
              </a:rPr>
              <a:t>Calculates AI Probability % &amp; synthetic bot phrasing.</a:t>
            </a:r>
          </a:p>
        </p:txBody>
      </p:sp>
      <p:pic>
        <p:nvPicPr>
          <p:cNvPr id="43" name="Picture 42" descr="opt_proctor_rul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7072" y="3383279"/>
            <a:ext cx="2743200" cy="1115568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8293608" y="4517135"/>
            <a:ext cx="3310128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680" i="1">
                <a:solidFill>
                  <a:srgbClr val="64748B"/>
                </a:solidFill>
                <a:latin typeface="Arial"/>
              </a:defRPr>
            </a:pPr>
            <a:r>
              <a:t>Live UI: 30-Min Proctored Assessment with Gaze Malpractice Rules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11480" y="4882896"/>
            <a:ext cx="3639312" cy="14996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411480" y="4882896"/>
            <a:ext cx="3639312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76072" y="4974336"/>
            <a:ext cx="3310128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780" b="1">
                <a:solidFill>
                  <a:srgbClr val="10B981"/>
                </a:solidFill>
                <a:latin typeface="Arial"/>
              </a:defRPr>
            </a:pPr>
            <a:r>
              <a:t>04 • JOB REQUISITION CONTROL</a:t>
            </a:r>
          </a:p>
          <a:p>
            <a:pPr>
              <a:defRPr sz="1250" b="1">
                <a:solidFill>
                  <a:srgbClr val="0F172A"/>
                </a:solidFill>
                <a:latin typeface="Arial"/>
              </a:defRPr>
            </a:pPr>
            <a:r>
              <a:t>Job Lifecycle &amp; Client Manager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76072" y="5504688"/>
            <a:ext cx="3310128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780">
                <a:solidFill>
                  <a:srgbClr val="0F172A"/>
                </a:solidFill>
                <a:latin typeface="Arial"/>
              </a:defRPr>
            </a:pPr>
            <a:r>
              <a:t>• 3-Stage Pipeline: Draft Requisition ➔ [Post to Recruiters] ➔ [Close Job].</a:t>
            </a:r>
          </a:p>
          <a:p>
            <a:pPr>
              <a:spcAft>
                <a:spcPts val="200"/>
              </a:spcAft>
              <a:defRPr sz="780">
                <a:solidFill>
                  <a:srgbClr val="0F172A"/>
                </a:solidFill>
                <a:latin typeface="Arial"/>
              </a:defRPr>
            </a:pPr>
            <a:r>
              <a:t>• Client Manager Name: Directly assigned in JD (e.g., Klaus Richter - Bosch).</a:t>
            </a:r>
          </a:p>
          <a:p>
            <a:pPr>
              <a:spcAft>
                <a:spcPts val="200"/>
              </a:spcAft>
              <a:defRPr sz="780">
                <a:solidFill>
                  <a:srgbClr val="0F172A"/>
                </a:solidFill>
                <a:latin typeface="Arial"/>
              </a:defRPr>
            </a:pPr>
            <a:r>
              <a:t>• Stage Gates: Recruiter upload unlocked only when manager opens requisition.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270248" y="4882896"/>
            <a:ext cx="3639312" cy="14996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4270248" y="4882896"/>
            <a:ext cx="3639312" cy="54864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434840" y="4974336"/>
            <a:ext cx="3310128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780" b="1">
                <a:solidFill>
                  <a:srgbClr val="0EA5E9"/>
                </a:solidFill>
                <a:latin typeface="Arial"/>
              </a:defRPr>
            </a:pPr>
            <a:r>
              <a:t>05 • DECISION GOVERNANCE</a:t>
            </a:r>
          </a:p>
          <a:p>
            <a:pPr>
              <a:defRPr sz="1250" b="1">
                <a:solidFill>
                  <a:srgbClr val="0F172A"/>
                </a:solidFill>
                <a:latin typeface="Arial"/>
              </a:defRPr>
            </a:pPr>
            <a:r>
              <a:t>Reversible Hiring Decisions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434840" y="5504688"/>
            <a:ext cx="3310128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780">
                <a:solidFill>
                  <a:srgbClr val="0F172A"/>
                </a:solidFill>
                <a:latin typeface="Arial"/>
              </a:defRPr>
            </a:pPr>
            <a:r>
              <a:t>• Dynamic Decision Toggle: 1-click switch [✓ Selected] / [✕ Not Selected].</a:t>
            </a:r>
          </a:p>
          <a:p>
            <a:pPr>
              <a:spcAft>
                <a:spcPts val="200"/>
              </a:spcAft>
              <a:defRPr sz="780">
                <a:solidFill>
                  <a:srgbClr val="0F172A"/>
                </a:solidFill>
                <a:latin typeface="Arial"/>
              </a:defRPr>
            </a:pPr>
            <a:r>
              <a:t>• Live Vacancy Counter: Real-time progress bar (e.g. 3 of 4 Positions Staffed).</a:t>
            </a:r>
          </a:p>
          <a:p>
            <a:pPr>
              <a:spcAft>
                <a:spcPts val="200"/>
              </a:spcAft>
              <a:defRPr sz="780">
                <a:solidFill>
                  <a:srgbClr val="0F172A"/>
                </a:solidFill>
                <a:latin typeface="Arial"/>
              </a:defRPr>
            </a:pPr>
            <a:r>
              <a:t>• Zero-Risk Undo: Instant reversal &amp; reset safety to prevent HR errors.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129016" y="4882896"/>
            <a:ext cx="3639312" cy="14996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8129016" y="4882896"/>
            <a:ext cx="3639312" cy="5486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293608" y="4974336"/>
            <a:ext cx="3310128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780" b="1">
                <a:solidFill>
                  <a:srgbClr val="F59E0B"/>
                </a:solidFill>
                <a:latin typeface="Arial"/>
              </a:defRPr>
            </a:pPr>
            <a:r>
              <a:t>06 • REPORTING &amp; PERSISTENCE</a:t>
            </a:r>
          </a:p>
          <a:p>
            <a:pPr>
              <a:defRPr sz="1250" b="1">
                <a:solidFill>
                  <a:srgbClr val="0F172A"/>
                </a:solidFill>
                <a:latin typeface="Arial"/>
              </a:defRPr>
            </a:pPr>
            <a:r>
              <a:t>Multi-Sheet Excel &amp; Cloud Sync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93608" y="5504688"/>
            <a:ext cx="3310128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780">
                <a:solidFill>
                  <a:srgbClr val="0F172A"/>
                </a:solidFill>
                <a:latin typeface="Arial"/>
              </a:defRPr>
            </a:pPr>
            <a:r>
              <a:t>• Multi-Sheet Excel (.xlsx): Sheet 1 (Openings/Pipeline) + Sheet 2 (Candidates/Scores).</a:t>
            </a:r>
          </a:p>
          <a:p>
            <a:pPr>
              <a:spcAft>
                <a:spcPts val="200"/>
              </a:spcAft>
              <a:defRPr sz="780">
                <a:solidFill>
                  <a:srgbClr val="0F172A"/>
                </a:solidFill>
                <a:latin typeface="Arial"/>
              </a:defRPr>
            </a:pPr>
            <a:r>
              <a:t>• 1-Click Export: In-browser SheetJS generation with zero backend latency.</a:t>
            </a:r>
          </a:p>
          <a:p>
            <a:pPr>
              <a:spcAft>
                <a:spcPts val="200"/>
              </a:spcAft>
              <a:defRPr sz="780">
                <a:solidFill>
                  <a:srgbClr val="0F172A"/>
                </a:solidFill>
                <a:latin typeface="Arial"/>
              </a:defRPr>
            </a:pPr>
            <a:r>
              <a:t>• Dual Persistence: Local ACID SQLite (sift.db) + Cloud auto-sync (GCS).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11480" y="6473952"/>
            <a:ext cx="11368735" cy="237744"/>
          </a:xfrm>
          <a:prstGeom prst="rect">
            <a:avLst/>
          </a:prstGeom>
          <a:solidFill>
            <a:srgbClr val="0B1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94360" y="6501384"/>
            <a:ext cx="11002975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780">
                <a:solidFill>
                  <a:srgbClr val="94A3B8"/>
                </a:solidFill>
                <a:latin typeface="Arial"/>
              </a:defRPr>
            </a:pPr>
            <a:r>
              <a:t>Motherson CogniHire v1.4.0  •  Enterprise Autonomous Candidate Screening &amp; Proctoring System  •  Confidential &amp; Proprietary  •  © 2026 Motherson Group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